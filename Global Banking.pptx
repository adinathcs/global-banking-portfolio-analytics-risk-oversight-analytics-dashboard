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BD0A8D-5183-4ACC-85D8-040426087716}" v="257" dt="2026-09-14T12:35:15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nath C S" userId="7ba4a413275308df" providerId="LiveId" clId="{5593131C-3778-4B20-AC78-538176FAD534}"/>
    <pc:docChg chg="undo custSel addSld delSld modSld sldOrd">
      <pc:chgData name="Adinath C S" userId="7ba4a413275308df" providerId="LiveId" clId="{5593131C-3778-4B20-AC78-538176FAD534}" dt="2026-09-14T13:18:57.208" v="726" actId="1076"/>
      <pc:docMkLst>
        <pc:docMk/>
      </pc:docMkLst>
      <pc:sldChg chg="addSp delSp modSp mod ord setBg">
        <pc:chgData name="Adinath C S" userId="7ba4a413275308df" providerId="LiveId" clId="{5593131C-3778-4B20-AC78-538176FAD534}" dt="2026-09-07T03:25:12.792" v="68"/>
        <pc:sldMkLst>
          <pc:docMk/>
          <pc:sldMk cId="2269655537" sldId="256"/>
        </pc:sldMkLst>
      </pc:sldChg>
      <pc:sldChg chg="addSp delSp modSp add mod setBg">
        <pc:chgData name="Adinath C S" userId="7ba4a413275308df" providerId="LiveId" clId="{5593131C-3778-4B20-AC78-538176FAD534}" dt="2026-09-14T12:00:16.241" v="680" actId="113"/>
        <pc:sldMkLst>
          <pc:docMk/>
          <pc:sldMk cId="2751755375" sldId="258"/>
        </pc:sldMkLst>
        <pc:spChg chg="add mod">
          <ac:chgData name="Adinath C S" userId="7ba4a413275308df" providerId="LiveId" clId="{5593131C-3778-4B20-AC78-538176FAD534}" dt="2026-09-14T11:51:00.253" v="654" actId="1076"/>
          <ac:spMkLst>
            <pc:docMk/>
            <pc:sldMk cId="2751755375" sldId="258"/>
            <ac:spMk id="2" creationId="{B3EF1A8E-3788-A19A-AEBA-3E648A48DA84}"/>
          </ac:spMkLst>
        </pc:spChg>
        <pc:spChg chg="add mod">
          <ac:chgData name="Adinath C S" userId="7ba4a413275308df" providerId="LiveId" clId="{5593131C-3778-4B20-AC78-538176FAD534}" dt="2026-09-14T12:00:16.241" v="680" actId="113"/>
          <ac:spMkLst>
            <pc:docMk/>
            <pc:sldMk cId="2751755375" sldId="258"/>
            <ac:spMk id="3" creationId="{17DA53FF-25C3-13E4-C3D4-1D9E283B1A33}"/>
          </ac:spMkLst>
        </pc:spChg>
      </pc:sldChg>
      <pc:sldChg chg="modSp add mod">
        <pc:chgData name="Adinath C S" userId="7ba4a413275308df" providerId="LiveId" clId="{5593131C-3778-4B20-AC78-538176FAD534}" dt="2026-09-14T11:58:34.368" v="679" actId="1076"/>
        <pc:sldMkLst>
          <pc:docMk/>
          <pc:sldMk cId="1969327050" sldId="259"/>
        </pc:sldMkLst>
        <pc:spChg chg="mod">
          <ac:chgData name="Adinath C S" userId="7ba4a413275308df" providerId="LiveId" clId="{5593131C-3778-4B20-AC78-538176FAD534}" dt="2026-09-14T11:58:34.368" v="679" actId="1076"/>
          <ac:spMkLst>
            <pc:docMk/>
            <pc:sldMk cId="1969327050" sldId="259"/>
            <ac:spMk id="2" creationId="{92ADD993-23FF-26C5-460E-A0D74C1EB6DE}"/>
          </ac:spMkLst>
        </pc:spChg>
        <pc:spChg chg="mod">
          <ac:chgData name="Adinath C S" userId="7ba4a413275308df" providerId="LiveId" clId="{5593131C-3778-4B20-AC78-538176FAD534}" dt="2026-09-14T11:58:31.699" v="678" actId="1076"/>
          <ac:spMkLst>
            <pc:docMk/>
            <pc:sldMk cId="1969327050" sldId="259"/>
            <ac:spMk id="3" creationId="{25349F44-A78F-27D8-CE27-C5F5223B9B74}"/>
          </ac:spMkLst>
        </pc:spChg>
      </pc:sldChg>
      <pc:sldChg chg="modSp add mod setBg">
        <pc:chgData name="Adinath C S" userId="7ba4a413275308df" providerId="LiveId" clId="{5593131C-3778-4B20-AC78-538176FAD534}" dt="2026-09-14T07:16:41.278" v="651" actId="20577"/>
        <pc:sldMkLst>
          <pc:docMk/>
          <pc:sldMk cId="2171862349" sldId="260"/>
        </pc:sldMkLst>
        <pc:spChg chg="mod">
          <ac:chgData name="Adinath C S" userId="7ba4a413275308df" providerId="LiveId" clId="{5593131C-3778-4B20-AC78-538176FAD534}" dt="2026-09-14T07:01:42.160" v="624" actId="1076"/>
          <ac:spMkLst>
            <pc:docMk/>
            <pc:sldMk cId="2171862349" sldId="260"/>
            <ac:spMk id="2" creationId="{EF1E48AD-5A8F-5FA9-A4D3-470E49DFD273}"/>
          </ac:spMkLst>
        </pc:spChg>
        <pc:spChg chg="mod">
          <ac:chgData name="Adinath C S" userId="7ba4a413275308df" providerId="LiveId" clId="{5593131C-3778-4B20-AC78-538176FAD534}" dt="2026-09-14T07:16:41.278" v="651" actId="20577"/>
          <ac:spMkLst>
            <pc:docMk/>
            <pc:sldMk cId="2171862349" sldId="260"/>
            <ac:spMk id="3" creationId="{D3E5BCD2-B32F-B842-9D7A-B0C0CCCD72C3}"/>
          </ac:spMkLst>
        </pc:spChg>
      </pc:sldChg>
      <pc:sldChg chg="addSp delSp modSp add mod setBg">
        <pc:chgData name="Adinath C S" userId="7ba4a413275308df" providerId="LiveId" clId="{5593131C-3778-4B20-AC78-538176FAD534}" dt="2026-09-07T13:20:40.522" v="597" actId="14100"/>
        <pc:sldMkLst>
          <pc:docMk/>
          <pc:sldMk cId="1285494974" sldId="261"/>
        </pc:sldMkLst>
        <pc:spChg chg="add mod">
          <ac:chgData name="Adinath C S" userId="7ba4a413275308df" providerId="LiveId" clId="{5593131C-3778-4B20-AC78-538176FAD534}" dt="2026-09-07T06:16:32.438" v="442" actId="1076"/>
          <ac:spMkLst>
            <pc:docMk/>
            <pc:sldMk cId="1285494974" sldId="261"/>
            <ac:spMk id="4" creationId="{4C9F9170-1076-9797-B028-6FA7794CFB0B}"/>
          </ac:spMkLst>
        </pc:spChg>
        <pc:picChg chg="add mod">
          <ac:chgData name="Adinath C S" userId="7ba4a413275308df" providerId="LiveId" clId="{5593131C-3778-4B20-AC78-538176FAD534}" dt="2026-09-07T13:20:40.522" v="597" actId="14100"/>
          <ac:picMkLst>
            <pc:docMk/>
            <pc:sldMk cId="1285494974" sldId="261"/>
            <ac:picMk id="8" creationId="{370D34E9-BC30-20A8-DFFD-7F90A8837524}"/>
          </ac:picMkLst>
        </pc:picChg>
      </pc:sldChg>
      <pc:sldChg chg="addSp modSp add mod">
        <pc:chgData name="Adinath C S" userId="7ba4a413275308df" providerId="LiveId" clId="{5593131C-3778-4B20-AC78-538176FAD534}" dt="2026-09-07T13:20:59.396" v="601" actId="20577"/>
        <pc:sldMkLst>
          <pc:docMk/>
          <pc:sldMk cId="1665094858" sldId="262"/>
        </pc:sldMkLst>
        <pc:spChg chg="add mod">
          <ac:chgData name="Adinath C S" userId="7ba4a413275308df" providerId="LiveId" clId="{5593131C-3778-4B20-AC78-538176FAD534}" dt="2026-09-07T06:21:37.579" v="488" actId="1076"/>
          <ac:spMkLst>
            <pc:docMk/>
            <pc:sldMk cId="1665094858" sldId="262"/>
            <ac:spMk id="2" creationId="{2A164E3C-488E-CE83-774F-38861810B465}"/>
          </ac:spMkLst>
        </pc:spChg>
        <pc:spChg chg="add mod">
          <ac:chgData name="Adinath C S" userId="7ba4a413275308df" providerId="LiveId" clId="{5593131C-3778-4B20-AC78-538176FAD534}" dt="2026-09-07T13:20:59.396" v="601" actId="20577"/>
          <ac:spMkLst>
            <pc:docMk/>
            <pc:sldMk cId="1665094858" sldId="262"/>
            <ac:spMk id="3" creationId="{410E3443-9C9C-0045-9D49-1ECF8C43CC1A}"/>
          </ac:spMkLst>
        </pc:spChg>
      </pc:sldChg>
      <pc:sldChg chg="addSp modSp add mod">
        <pc:chgData name="Adinath C S" userId="7ba4a413275308df" providerId="LiveId" clId="{5593131C-3778-4B20-AC78-538176FAD534}" dt="2026-09-14T12:37:10.599" v="702" actId="20577"/>
        <pc:sldMkLst>
          <pc:docMk/>
          <pc:sldMk cId="842266529" sldId="263"/>
        </pc:sldMkLst>
        <pc:spChg chg="add mod">
          <ac:chgData name="Adinath C S" userId="7ba4a413275308df" providerId="LiveId" clId="{5593131C-3778-4B20-AC78-538176FAD534}" dt="2026-09-14T12:36:12.681" v="698" actId="1076"/>
          <ac:spMkLst>
            <pc:docMk/>
            <pc:sldMk cId="842266529" sldId="263"/>
            <ac:spMk id="2" creationId="{DADD2E4B-6B51-0F1F-9C73-28293EE615BA}"/>
          </ac:spMkLst>
        </pc:spChg>
        <pc:spChg chg="add mod">
          <ac:chgData name="Adinath C S" userId="7ba4a413275308df" providerId="LiveId" clId="{5593131C-3778-4B20-AC78-538176FAD534}" dt="2026-09-14T12:37:10.599" v="702" actId="20577"/>
          <ac:spMkLst>
            <pc:docMk/>
            <pc:sldMk cId="842266529" sldId="263"/>
            <ac:spMk id="3" creationId="{00743DAA-0C36-9ADF-6BB8-2337BDF7C775}"/>
          </ac:spMkLst>
        </pc:spChg>
      </pc:sldChg>
      <pc:sldChg chg="addSp modSp add mod">
        <pc:chgData name="Adinath C S" userId="7ba4a413275308df" providerId="LiveId" clId="{5593131C-3778-4B20-AC78-538176FAD534}" dt="2026-09-14T13:18:57.208" v="726" actId="1076"/>
        <pc:sldMkLst>
          <pc:docMk/>
          <pc:sldMk cId="1218161527" sldId="264"/>
        </pc:sldMkLst>
        <pc:spChg chg="add mod">
          <ac:chgData name="Adinath C S" userId="7ba4a413275308df" providerId="LiveId" clId="{5593131C-3778-4B20-AC78-538176FAD534}" dt="2026-09-14T13:18:57.208" v="726" actId="1076"/>
          <ac:spMkLst>
            <pc:docMk/>
            <pc:sldMk cId="1218161527" sldId="264"/>
            <ac:spMk id="2" creationId="{260F4CC1-1BBF-8990-8608-B92B5F7C97ED}"/>
          </ac:spMkLst>
        </pc:spChg>
        <pc:spChg chg="add mod">
          <ac:chgData name="Adinath C S" userId="7ba4a413275308df" providerId="LiveId" clId="{5593131C-3778-4B20-AC78-538176FAD534}" dt="2026-09-14T13:18:55.319" v="725" actId="1076"/>
          <ac:spMkLst>
            <pc:docMk/>
            <pc:sldMk cId="1218161527" sldId="264"/>
            <ac:spMk id="3" creationId="{53900F00-A7EB-E846-BE4F-98299D361F9E}"/>
          </ac:spMkLst>
        </pc:spChg>
      </pc:sldChg>
      <pc:sldChg chg="addSp modSp add mod">
        <pc:chgData name="Adinath C S" userId="7ba4a413275308df" providerId="LiveId" clId="{5593131C-3778-4B20-AC78-538176FAD534}" dt="2026-09-07T06:28:07.418" v="584" actId="1076"/>
        <pc:sldMkLst>
          <pc:docMk/>
          <pc:sldMk cId="3071650927" sldId="265"/>
        </pc:sldMkLst>
        <pc:spChg chg="add mod">
          <ac:chgData name="Adinath C S" userId="7ba4a413275308df" providerId="LiveId" clId="{5593131C-3778-4B20-AC78-538176FAD534}" dt="2026-09-07T06:28:07.418" v="584" actId="1076"/>
          <ac:spMkLst>
            <pc:docMk/>
            <pc:sldMk cId="3071650927" sldId="265"/>
            <ac:spMk id="2" creationId="{2662C397-1696-9F00-019B-05DC5B4929C8}"/>
          </ac:spMkLst>
        </pc:spChg>
      </pc:sldChg>
      <pc:sldChg chg="add">
        <pc:chgData name="Adinath C S" userId="7ba4a413275308df" providerId="LiveId" clId="{5593131C-3778-4B20-AC78-538176FAD534}" dt="2026-09-07T06:16:06.734" v="425" actId="2890"/>
        <pc:sldMkLst>
          <pc:docMk/>
          <pc:sldMk cId="1864532487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8F73-F996-25C2-A1CE-3D2C9ED80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E3E35-8C93-9477-011F-E19B62CE3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47336-37DD-034D-E5DB-FF57E6FB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0D328-E2C0-9855-1E03-827E1A0F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7B3A-E48F-D87C-8E75-35DFB5E4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3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6FB0-8C48-342C-8BA6-DEFDB458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2079F-DEA8-546E-A8AB-5923303B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CF0C-61B0-D2FB-EE8E-64EE0A3F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25E04-AA6C-42C1-0E2D-27C2256A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CCF2A-C814-CF70-F04E-9B51C488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01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06E3-05F1-F860-5E3B-5E2BF4CC2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0F50A-9CD9-C21F-0EBC-DD2629EEF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04EF-B800-6319-D949-884306BA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517DA-81C4-AB40-1E75-9BF93833B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22646-DB19-770A-CF7B-6BE41AD3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5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C48C-D548-516A-AA21-76DAAE4D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D1629-426F-25A6-8887-1BB651958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93A6-4D6E-1B4E-75D0-BFFE2C6DB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813D9-D803-E43D-7E20-E58C9D69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06549-A57E-827A-A9DB-D8766499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42FBB-A369-94F2-D129-F85F844F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93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D7A5-A8CB-3D03-65EE-F8E4C356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03C95-6962-31B3-250B-77D15C1A1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DCE0B-110B-EF4F-C8B9-B9AFB53A8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37AF8-325D-A45E-5A56-B291E93B2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E993D-2836-EFFA-C3A4-94CA861CA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45E1A-6C0A-482C-14AD-885BC743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8FAF5E-03A0-6C23-1775-05442F262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9BEF3-436A-7A02-C1B3-4BD9EA5F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58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E153-11E9-1677-49CF-EDAF6BCE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9EFBE-86A3-7BAA-E8F3-1F875F0C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23B81-D1F8-1AC5-D041-3A371330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B4410-919B-A35A-DA17-A014B5A6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21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52462-0A7B-30C1-9B77-372B123F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14266-932B-99B4-CD95-E44F659A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0BC26-63B9-F4DE-7278-78F02F52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2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C27D-D7C1-FE6B-AEB1-E9F2B3E8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488D-C47D-9E91-A919-0A4E7787E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3D86C-8ECA-7924-BD94-1279F3EC2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6DB46-7CA9-D7E9-4EF4-57D95934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9042E-B18B-E440-9409-AEB59FD1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C0266-7116-111D-B498-581B34EC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09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5CE-A1B3-C1B5-76AD-23F7B041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66E67-C412-0A3F-99F8-A5C1230CD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AA306-C8BE-0BB4-0FB6-653FBE45F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AC6C1-784B-2227-18EF-21EE8112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71285-E486-6E27-04C1-73095B32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E59F9-76EC-839C-B238-DAE447A6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62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54ED-92A6-33C0-93CC-C286F477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6F9A1-6CAF-1CCF-6949-868A5FBA1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D3FE9-22AE-D1B3-D6F0-C5448E7C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72C17-3908-3366-6AE0-96F1021A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B45E7-E07F-3DE8-F613-A75D72DD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34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023259-A510-D753-11DB-2ECE397CE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ACF83-5F3B-8741-CD2F-AC7DF56EB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BFE3-9FF4-9FA6-D73E-645ADD1B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C03AC-03D0-7454-2F0E-B3086026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285D8-5633-B7EF-5647-5B6D7FBB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5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96B13-6F56-D520-310A-1A8D85BD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1D551-19EC-F6F9-B886-6632B20E9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48F5B-83CD-537F-CCDE-50EE4AFB3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D1E9C-A847-4551-ACC6-8D9D081114C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B6B6-9FB2-CB2A-8B84-3BB57C121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4B4B-6F50-4B63-5440-E58944414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86663-40E5-43D2-9EAD-822CAFE97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4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D89F-56BE-FC2F-1A72-F5048AF1C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473" y="1041400"/>
            <a:ext cx="10307053" cy="2387600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latin typeface="Poppins ExtraBold" panose="00000900000000000000" pitchFamily="2" charset="0"/>
                <a:cs typeface="Poppins ExtraBold" panose="00000900000000000000" pitchFamily="2" charset="0"/>
              </a:rPr>
              <a:t>GLOBAL BANKING PORTFOLIO ANALYTICS &amp; RISK OVERSIGHT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A3CA5-6942-F53B-8B66-AF28CD3B3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3429000"/>
            <a:ext cx="8867274" cy="677027"/>
          </a:xfrm>
        </p:spPr>
        <p:txBody>
          <a:bodyPr>
            <a:normAutofit/>
          </a:bodyPr>
          <a:lstStyle/>
          <a:p>
            <a:pPr algn="l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An executive-level overview of global banking operations, identifying solvency trends, credit risk concentrations, and regulatory compliance gaps to guide strategic portfolio management.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FC26C-99E7-F900-74E2-3224701B1030}"/>
              </a:ext>
            </a:extLst>
          </p:cNvPr>
          <p:cNvSpPr txBox="1"/>
          <p:nvPr/>
        </p:nvSpPr>
        <p:spPr>
          <a:xfrm>
            <a:off x="942473" y="5213684"/>
            <a:ext cx="175661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Prepared By </a:t>
            </a:r>
            <a:br>
              <a:rPr lang="en-IN" sz="1200" dirty="0"/>
            </a:br>
            <a:r>
              <a:rPr lang="en-IN" sz="12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ADINATH C S</a:t>
            </a:r>
          </a:p>
        </p:txBody>
      </p:sp>
    </p:spTree>
    <p:extLst>
      <p:ext uri="{BB962C8B-B14F-4D97-AF65-F5344CB8AC3E}">
        <p14:creationId xmlns:p14="http://schemas.microsoft.com/office/powerpoint/2010/main" val="2269655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30DAD-7FD3-5A9A-FBE3-799454DF3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EF1A8E-3788-A19A-AEBA-3E648A48DA84}"/>
              </a:ext>
            </a:extLst>
          </p:cNvPr>
          <p:cNvSpPr txBox="1"/>
          <p:nvPr/>
        </p:nvSpPr>
        <p:spPr>
          <a:xfrm>
            <a:off x="1028700" y="2128836"/>
            <a:ext cx="506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INTRODUCTION</a:t>
            </a:r>
            <a:endParaRPr lang="en-IN" b="1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A53FF-25C3-13E4-C3D4-1D9E283B1A33}"/>
              </a:ext>
            </a:extLst>
          </p:cNvPr>
          <p:cNvSpPr txBox="1"/>
          <p:nvPr/>
        </p:nvSpPr>
        <p:spPr>
          <a:xfrm>
            <a:off x="1028700" y="2590501"/>
            <a:ext cx="9620250" cy="16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The </a:t>
            </a:r>
            <a:r>
              <a:rPr lang="en-US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Global Banking Portfolio Analytics &amp; Risk Oversight </a:t>
            </a:r>
            <a:r>
              <a:rPr lang="en-US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project is designed to evaluate balance sheet health, monitor credit exposure, and pinpoint regulatory gaps across our international customer base. By analyzing key variables—including debt-to-income ratios, credit scores, account tiers, and KYC verification statuses—this project provides the operational intelligence needed to guide strategic capital allocation, streamline compliance audits, and enforce risk guardrails globally.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75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3AF31-15E2-079A-D39F-4107F495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ADD993-23FF-26C5-460E-A0D74C1EB6DE}"/>
              </a:ext>
            </a:extLst>
          </p:cNvPr>
          <p:cNvSpPr txBox="1"/>
          <p:nvPr/>
        </p:nvSpPr>
        <p:spPr>
          <a:xfrm>
            <a:off x="1285875" y="1643767"/>
            <a:ext cx="506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DATASET OVERVIEW</a:t>
            </a:r>
            <a:endParaRPr lang="en-IN" sz="1600" b="1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49F44-A78F-27D8-CE27-C5F5223B9B74}"/>
              </a:ext>
            </a:extLst>
          </p:cNvPr>
          <p:cNvSpPr txBox="1"/>
          <p:nvPr/>
        </p:nvSpPr>
        <p:spPr>
          <a:xfrm>
            <a:off x="1285875" y="2105432"/>
            <a:ext cx="9620250" cy="264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Data Scope: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1,599 customer records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across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19 feature attributes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in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39 countries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Demographic Identifiers: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Full Name, Age, Gender, Location, and Account Creation Date.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Account Classification: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7 distinct tiers (Premium, Business, Joint, Savings, Current, Digital-Only, Student).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Financial Metrics: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Quantitative fields for Balance (USD), Debt (USD), Income, and Credit Score (595–845).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Risk &amp; Compliance Flags: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Risk Level (High, Medium, Low), KYC Status (Verified, Pending), Fraud Flag, and Account Status.</a:t>
            </a:r>
          </a:p>
        </p:txBody>
      </p:sp>
    </p:spTree>
    <p:extLst>
      <p:ext uri="{BB962C8B-B14F-4D97-AF65-F5344CB8AC3E}">
        <p14:creationId xmlns:p14="http://schemas.microsoft.com/office/powerpoint/2010/main" val="196932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75753-3315-5B06-1FDB-37D2E4AA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1E48AD-5A8F-5FA9-A4D3-470E49DFD273}"/>
              </a:ext>
            </a:extLst>
          </p:cNvPr>
          <p:cNvSpPr txBox="1"/>
          <p:nvPr/>
        </p:nvSpPr>
        <p:spPr>
          <a:xfrm>
            <a:off x="847724" y="1966933"/>
            <a:ext cx="506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OBJECTIVES</a:t>
            </a:r>
            <a:endParaRPr lang="en-IN" b="1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5BCD2-B32F-B842-9D7A-B0C0CCCD72C3}"/>
              </a:ext>
            </a:extLst>
          </p:cNvPr>
          <p:cNvSpPr txBox="1"/>
          <p:nvPr/>
        </p:nvSpPr>
        <p:spPr>
          <a:xfrm>
            <a:off x="847724" y="2428598"/>
            <a:ext cx="10496551" cy="2000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Solvency: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Ensuring our balance sheet maintains a strong liquidity buffer above 2.0x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Credit Risk: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Pinpointing high-default borrower clusters where DTI exceeds 40% and credit scores drop below 650.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Compliance: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Auditing KYC statuses to eliminate AML penalties.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Segment Performance: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Tracking asset drivers and liability risks across our account tiers.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Geographic Allocation: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Directing capital and strategic focus toward our top asset-generating global markets.</a:t>
            </a:r>
          </a:p>
        </p:txBody>
      </p:sp>
    </p:spTree>
    <p:extLst>
      <p:ext uri="{BB962C8B-B14F-4D97-AF65-F5344CB8AC3E}">
        <p14:creationId xmlns:p14="http://schemas.microsoft.com/office/powerpoint/2010/main" val="217186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BFB39-69CD-F8D8-DB45-DB24AB58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9F9170-1076-9797-B028-6FA7794CFB0B}"/>
              </a:ext>
            </a:extLst>
          </p:cNvPr>
          <p:cNvSpPr txBox="1"/>
          <p:nvPr/>
        </p:nvSpPr>
        <p:spPr>
          <a:xfrm>
            <a:off x="114300" y="66675"/>
            <a:ext cx="3067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D34E9-BC30-20A8-DFFD-7F90A883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340"/>
            <a:ext cx="12192000" cy="63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9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6E8F5-51BA-BB62-E535-EEC3A726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64E3C-488E-CE83-774F-38861810B465}"/>
              </a:ext>
            </a:extLst>
          </p:cNvPr>
          <p:cNvSpPr txBox="1"/>
          <p:nvPr/>
        </p:nvSpPr>
        <p:spPr>
          <a:xfrm>
            <a:off x="942975" y="1757005"/>
            <a:ext cx="4227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DASHBOARD 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E3443-9C9C-0045-9D49-1ECF8C43CC1A}"/>
              </a:ext>
            </a:extLst>
          </p:cNvPr>
          <p:cNvSpPr txBox="1"/>
          <p:nvPr/>
        </p:nvSpPr>
        <p:spPr>
          <a:xfrm>
            <a:off x="942975" y="2218670"/>
            <a:ext cx="10306050" cy="264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Solvency: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$116.07M in assets vs. $54.25M in liabilities provides a healthy 2.06x liquidity ratio.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Credit Exposure: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A key cluster breaches both risk thresholds (DTI &gt; 0.40 and Credit Score &lt; 650).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Compliance Gap: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127 high-risk accounts remain in pending KYC status, presenting AML audit exposure.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Account Tiers: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Premium accounts drive highest total assets (~$290K </a:t>
            </a:r>
            <a:r>
              <a:rPr lang="en-IN" sz="14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avg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), while Business accounts carry the highest liabilities (~$100K </a:t>
            </a:r>
            <a:r>
              <a:rPr lang="en-IN" sz="14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avg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).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Regional Markets: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Capital concentration is led by China ($21.8M), Nigeria ($16.7M), Mexico ($14.8M), and Japan ($14.2M).</a:t>
            </a:r>
          </a:p>
          <a:p>
            <a:pPr algn="just">
              <a:lnSpc>
                <a:spcPct val="150000"/>
              </a:lnSpc>
            </a:pPr>
            <a:endParaRPr lang="en-IN" sz="1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09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23F44-3766-E3E0-1094-CEA289B8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DD2E4B-6B51-0F1F-9C73-28293EE615BA}"/>
              </a:ext>
            </a:extLst>
          </p:cNvPr>
          <p:cNvSpPr txBox="1"/>
          <p:nvPr/>
        </p:nvSpPr>
        <p:spPr>
          <a:xfrm>
            <a:off x="1219200" y="1775839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43DAA-0C36-9ADF-6BB8-2337BDF7C775}"/>
              </a:ext>
            </a:extLst>
          </p:cNvPr>
          <p:cNvSpPr txBox="1"/>
          <p:nvPr/>
        </p:nvSpPr>
        <p:spPr>
          <a:xfrm>
            <a:off x="1219200" y="2237504"/>
            <a:ext cx="9267825" cy="2970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Capital Solvency: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Our portfolio displays strong baseline stability with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$116.07M in assets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against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$54.25M in liabilities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, maintaining a healthy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2.06x liquidity ratio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Credit Exposure: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While average credit scores remain solid at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711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, underwriting risks are tightly concentrated in borrowers breaching our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0.40 DTI threshold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 falling below the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650 credit score cutoff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Compliance Vulnerability: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Our most urgent operational gap is the 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127 High-Risk accounts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sitting in pending KYC status, which require immediate containment to mitigate AML audit exposure.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Strategic Growth: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Wealth management expansion is heavily driven by Premium account holders and anchored across our top four markets—</a:t>
            </a: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China, Nigeria, Mexico, and Japan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226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76D00-56D4-2664-9961-00E61BD8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0F4CC1-1BBF-8990-8608-B92B5F7C97ED}"/>
              </a:ext>
            </a:extLst>
          </p:cNvPr>
          <p:cNvSpPr txBox="1"/>
          <p:nvPr/>
        </p:nvSpPr>
        <p:spPr>
          <a:xfrm>
            <a:off x="1528762" y="1643767"/>
            <a:ext cx="372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FUTURE ENHANCEMENT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00F00-A7EB-E846-BE4F-98299D361F9E}"/>
              </a:ext>
            </a:extLst>
          </p:cNvPr>
          <p:cNvSpPr txBox="1"/>
          <p:nvPr/>
        </p:nvSpPr>
        <p:spPr>
          <a:xfrm>
            <a:off x="1528762" y="2105432"/>
            <a:ext cx="9134475" cy="264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Predictive Default Risk: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Implement simple predictive models to flag customers at high risk of loan default before they breach DTI limits.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Automated Data Updates: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Connect the dashboard directly to a live database to update metrics automatically in real time.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Automated KYC Alerts: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Trigger instant email notifications to compliance teams whenever a high-risk account enters pending KYC status.</a:t>
            </a:r>
          </a:p>
          <a:p>
            <a:pPr marL="285750" lvl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Granular Location Tracking: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 Expand geographic analysis from country-level to city-level views to identify local risk clusters.</a:t>
            </a:r>
          </a:p>
        </p:txBody>
      </p:sp>
    </p:spTree>
    <p:extLst>
      <p:ext uri="{BB962C8B-B14F-4D97-AF65-F5344CB8AC3E}">
        <p14:creationId xmlns:p14="http://schemas.microsoft.com/office/powerpoint/2010/main" val="121816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6E785-B35F-8861-8249-6AF99150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62C397-1696-9F00-019B-05DC5B4929C8}"/>
              </a:ext>
            </a:extLst>
          </p:cNvPr>
          <p:cNvSpPr txBox="1"/>
          <p:nvPr/>
        </p:nvSpPr>
        <p:spPr>
          <a:xfrm>
            <a:off x="3424237" y="3013501"/>
            <a:ext cx="5343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Poppins Black" panose="00000A00000000000000" pitchFamily="2" charset="0"/>
                <a:cs typeface="Poppins Black" panose="00000A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71650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578E4-30FC-E198-DABA-CB7EFB1C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532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607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Poppins Black</vt:lpstr>
      <vt:lpstr>Poppins ExtraBold</vt:lpstr>
      <vt:lpstr>Poppins Medium</vt:lpstr>
      <vt:lpstr>Poppins SemiBold</vt:lpstr>
      <vt:lpstr>Office Theme</vt:lpstr>
      <vt:lpstr>GLOBAL BANKING PORTFOLIO ANALYTICS &amp; RISK OVERSIGHT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Adinath C S</dc:creator>
  <cp:lastModifiedBy>Adinath C S</cp:lastModifiedBy>
  <cp:revision>1</cp:revision>
  <dcterms:created xsi:type="dcterms:W3CDTF">2026-09-06T18:28:57Z</dcterms:created>
  <dcterms:modified xsi:type="dcterms:W3CDTF">2026-10-14T11:56:46Z</dcterms:modified>
</cp:coreProperties>
</file>